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2" r:id="rId4"/>
    <p:sldId id="282" r:id="rId5"/>
    <p:sldId id="274" r:id="rId6"/>
    <p:sldId id="273" r:id="rId7"/>
    <p:sldId id="275" r:id="rId8"/>
    <p:sldId id="276" r:id="rId9"/>
    <p:sldId id="280" r:id="rId10"/>
    <p:sldId id="28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A6FB1-D489-47D5-B65A-E60D1C04B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A5ECAC-72F8-4110-97E9-E60AB5A75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545FE6-BDF2-414D-8396-4F523EB8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F4B05-A43A-43EE-B71B-BAF3B3D7C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724708-1ABB-496C-BA76-E4A49522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43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8D335-65A9-4B63-B827-55C0A6BC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1858C-7152-406E-8F21-41F0CAE70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3ED9A4-009D-462B-AE60-D5BED527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320D86-77CC-4BBE-8787-870343DF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1F2C97-2866-4ED5-BA6A-DA87925E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35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28022-1D31-4A51-A887-89B089DD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3F553C-710E-4DDF-BCD6-7B7064E07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7BFC5C-23A3-4C65-87FB-D9FF2467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FFCF8D-4EED-4A7B-909D-2CF24E73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B22C9A-1C32-47E7-9651-C9BD032C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03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3FF25-2641-421C-9C0E-CFF3DFC7A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39620A-77A8-4801-BED8-BE4BD7285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EA6322-C698-4D2F-87A1-B81451BEC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6F9AF4-AC91-468C-81A1-36BC28AA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AF55C7-3C68-43C1-9713-FBB24D03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6E3D68-0F3B-47A6-AC78-AD974E51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34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251C3-D8DD-44BB-A399-7D8744E7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67DD59-2EC2-450A-8CD2-4F2D5656A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B6623D-41DC-4A6A-A96A-938C2359A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CC1CDA-5D18-4CB8-8960-4E0A96E5C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1497B7-75CE-4E8B-88A3-BF7936639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854D78-AB6C-426E-9D1F-774EC407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2A4BAA-9AD4-4346-8E23-AB14FA5E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D5137EC-ED68-4EAE-9385-29DB499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29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F32F3-31DC-4FD0-BE6D-06130F2C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E66D5C-E7E4-4B1B-8DDA-66456592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8F0238-E780-4E31-B9EA-8DFBA9A4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8899F9-CFBE-45AB-BBDB-0FF8B918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19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07EB988-ED30-4202-8A43-12BF5021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D401F9-B2E3-42E8-9373-0B7D31F8D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C9B6B7-4FB5-4AAB-A412-50D62E0F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12F3A-4A52-4277-AF93-49BA029B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AE0896-7727-4D2A-A57F-C52D813C4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9D181F-E546-4D26-9BB3-5EA437EB7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280D6E-ECE5-45F4-9205-0430E410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AF6972-22A9-460D-A0A9-484464C2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26AE66-1D52-4785-92B7-62BF5D63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37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0EBE7-C6D6-4D53-8400-94F9D3B3A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F8D88A-7A9B-420A-9288-70A79DE3C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45F77D-442B-4B9D-A00F-B22E647E2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4FC73-8199-4F06-8FE3-E5452D2E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B89595-BC92-4AF3-8D14-89D72A83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58A24A-1A30-40DD-8EE7-C198FE0E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43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EBB3A-ABA4-4B87-80BC-AF33765B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759EA0-A156-4422-8A9E-70265892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AC1AF2-C9B1-42E8-96CF-2A2DADCD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4C991-0ADF-4E18-AFDB-15F6347B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88DA20-6FE4-4883-A8BB-5D09F1C0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8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F8E1EE-2748-4077-931A-2BE4FE1B9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6EEAAD-CCDC-43DB-BEFA-24C34B88B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0B7DBD-F0AB-41C4-8B2C-8D1D8F18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22D834-F4E3-4949-AA7D-A69D188A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D20387-8A31-4D59-8F3C-434280AC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0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B6A97-7940-4F12-884F-6A29651B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F94A21-169B-45E8-89A3-623405931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B91EF5-7466-4E6C-8F33-867A44B7F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C1045-342B-429F-AF7B-DF2A7968FF85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DE3A69-591F-444E-9727-9E0347CA3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E13F7-18CD-4E45-A832-A82EE805B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4C44D-C2B2-48D3-AD67-CEFB84499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03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42366A4-863C-49BB-944A-2A389F0BB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060576"/>
            <a:ext cx="7772400" cy="147002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tx2"/>
                </a:solidFill>
              </a:rPr>
              <a:t>Разработка</a:t>
            </a:r>
            <a:r>
              <a:rPr lang="en-US" altLang="ru-RU" sz="2000" b="1" dirty="0">
                <a:solidFill>
                  <a:schemeClr val="tx2"/>
                </a:solidFill>
              </a:rPr>
              <a:t> </a:t>
            </a:r>
            <a:r>
              <a:rPr lang="ru-RU" altLang="ru-RU" sz="2000" b="1" dirty="0">
                <a:solidFill>
                  <a:schemeClr val="tx2"/>
                </a:solidFill>
              </a:rPr>
              <a:t>мобильного приложения для чтения электронных книг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E35FF11-FB44-4B7A-8F60-F0EA60990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3789364"/>
            <a:ext cx="5830888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Выполнил: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Виноградов Иван Александрович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Группа: 22П-1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Специальность: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09.02.07 Информационные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системы и программирование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Руководитель: </a:t>
            </a:r>
            <a:r>
              <a:rPr lang="ru-RU" altLang="ru-RU" dirty="0"/>
              <a:t>Калинин Арсений Олегович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261939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pic>
        <p:nvPicPr>
          <p:cNvPr id="6149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025" y="22542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4" y="6237288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00F77-D084-4832-956A-302882DE0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2075" y="1722439"/>
            <a:ext cx="9324975" cy="1800225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              Цель курсового проекта – разработка</a:t>
            </a:r>
            <a:r>
              <a:rPr lang="en-US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</a:rPr>
              <a:t>мобильного приложения для чтения электронных книг</a:t>
            </a:r>
            <a:r>
              <a:rPr lang="en-US" altLang="ru-RU" sz="2400" dirty="0">
                <a:latin typeface="Times New Roman" panose="02020603050405020304" pitchFamily="18" charset="0"/>
              </a:rPr>
              <a:t>,</a:t>
            </a:r>
            <a:r>
              <a:rPr lang="ru-RU" altLang="ru-RU" sz="2400" dirty="0">
                <a:latin typeface="Times New Roman" panose="02020603050405020304" pitchFamily="18" charset="0"/>
              </a:rPr>
              <a:t> ориентированного на удобство пользователя.</a:t>
            </a:r>
            <a:r>
              <a:rPr lang="ru-RU" altLang="ru-RU" dirty="0">
                <a:latin typeface="Times New Roman" panose="02020603050405020304" pitchFamily="18" charset="0"/>
              </a:rPr>
              <a:t>       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>
                <a:latin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8F784F4C-5443-4AC7-8C02-E27F17AE0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7" y="2885283"/>
            <a:ext cx="86423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latin typeface="Times New Roman" panose="02020603050405020304" pitchFamily="18" charset="0"/>
              </a:rPr>
              <a:t>  Задачи</a:t>
            </a:r>
          </a:p>
          <a:p>
            <a:pPr eaLnBrk="1" hangingPunct="1"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</a:rPr>
              <a:t> Описать предметную область</a:t>
            </a:r>
          </a:p>
          <a:p>
            <a:pPr eaLnBrk="1" hangingPunct="1"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</a:rPr>
              <a:t> Разработать техническое задание на разработку программного продукта</a:t>
            </a:r>
          </a:p>
          <a:p>
            <a:pPr eaLnBrk="1" hangingPunct="1"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</a:rPr>
              <a:t> Описать архитектуру программы</a:t>
            </a:r>
          </a:p>
          <a:p>
            <a:pPr eaLnBrk="1" hangingPunct="1"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</a:rPr>
              <a:t> Описать алгоритмы и функционирование программы</a:t>
            </a:r>
          </a:p>
          <a:p>
            <a:pPr eaLnBrk="1" hangingPunct="1"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</a:rPr>
              <a:t> Провести тестирование и опытную эксплуатацию</a:t>
            </a:r>
          </a:p>
          <a:p>
            <a:pPr eaLnBrk="1" hangingPunct="1"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</a:rPr>
              <a:t> Разработать руководство пользователя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solidFill>
                <a:schemeClr val="tx2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00F77-D084-4832-956A-302882DE0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6" y="1557339"/>
            <a:ext cx="9324975" cy="4113887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Рынок мобильных приложений для чтения электронных книг продолжает активно развиваться. Согласно данным статистики, более 70% пользователей смартфонов регулярно читают электронные книги на своих устройствах. </a:t>
            </a: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Основными преимуществами мобильного чтения являются портативность, доступность контента в любое время и возможность кастомизации процесса чтения под индивидуальные предпочтения.</a:t>
            </a:r>
          </a:p>
          <a:p>
            <a:pPr algn="just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Анализ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51746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solidFill>
                <a:schemeClr val="tx2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00F77-D084-4832-956A-302882DE0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6" y="1557339"/>
            <a:ext cx="9324975" cy="4113887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Обзор аналогов</a:t>
            </a:r>
          </a:p>
          <a:p>
            <a:pPr algn="just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Анализ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26312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00F77-D084-4832-956A-302882DE0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05250" y="2088941"/>
            <a:ext cx="9508476" cy="3873077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1. Среда разработки </a:t>
            </a:r>
            <a:r>
              <a:rPr lang="en-US" altLang="ru-RU" dirty="0">
                <a:latin typeface="Times New Roman" panose="02020603050405020304" pitchFamily="18" charset="0"/>
              </a:rPr>
              <a:t>Visual Studio 2022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2. Языка программирования </a:t>
            </a:r>
            <a:r>
              <a:rPr lang="en-US" altLang="ru-RU" dirty="0">
                <a:latin typeface="Times New Roman" panose="02020603050405020304" pitchFamily="18" charset="0"/>
              </a:rPr>
              <a:t>C#</a:t>
            </a:r>
            <a:r>
              <a:rPr lang="ru-RU" altLang="ru-RU" dirty="0">
                <a:latin typeface="Times New Roman" panose="02020603050405020304" pitchFamily="18" charset="0"/>
              </a:rPr>
              <a:t>.</a:t>
            </a: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3. </a:t>
            </a:r>
            <a:r>
              <a:rPr lang="en-US" altLang="ru-RU" dirty="0">
                <a:latin typeface="Times New Roman" panose="02020603050405020304" pitchFamily="18" charset="0"/>
              </a:rPr>
              <a:t>NET MAUI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		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Средства разработки</a:t>
            </a:r>
          </a:p>
        </p:txBody>
      </p:sp>
      <p:pic>
        <p:nvPicPr>
          <p:cNvPr id="2050" name="Picture 2" descr="Картинки по запросу C#">
            <a:extLst>
              <a:ext uri="{FF2B5EF4-FFF2-40B4-BE49-F238E27FC236}">
                <a16:creationId xmlns:a16="http://schemas.microsoft.com/office/drawing/2014/main" id="{7F4171DE-033E-46EF-B80E-9E6DD2E6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518" y="4078218"/>
            <a:ext cx="177165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в WPF, кнопка значок в Colored Badges for GitHub profi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6" name="Picture 12" descr="Microsoft Visual Studio — Википедия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99" y="3794100"/>
            <a:ext cx="2345030" cy="234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C98D84D-4A2D-43E4-BFB6-9313FA241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862" y="3637737"/>
            <a:ext cx="2652612" cy="265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63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A3581E-8C57-46FE-8BF3-C47707894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latin typeface="Times New Roman" panose="02020603050405020304" pitchFamily="18" charset="0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C2E6DE7-A12F-4B07-B70C-A4C58B800C40}"/>
              </a:ext>
            </a:extLst>
          </p:cNvPr>
          <p:cNvSpPr/>
          <p:nvPr/>
        </p:nvSpPr>
        <p:spPr>
          <a:xfrm>
            <a:off x="4006814" y="902726"/>
            <a:ext cx="3791208" cy="7141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Основные функции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373E56A-0281-4412-A00B-1C009B6F59E9}"/>
              </a:ext>
            </a:extLst>
          </p:cNvPr>
          <p:cNvSpPr/>
          <p:nvPr/>
        </p:nvSpPr>
        <p:spPr>
          <a:xfrm>
            <a:off x="352938" y="2192100"/>
            <a:ext cx="2864479" cy="1046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Импорт</a:t>
            </a:r>
          </a:p>
        </p:txBody>
      </p:sp>
      <p:cxnSp>
        <p:nvCxnSpPr>
          <p:cNvPr id="6" name="Соединительная линия уступом 5">
            <a:extLst>
              <a:ext uri="{FF2B5EF4-FFF2-40B4-BE49-F238E27FC236}">
                <a16:creationId xmlns:a16="http://schemas.microsoft.com/office/drawing/2014/main" id="{E07113C5-67E9-49C6-A247-16EB04DCD1DE}"/>
              </a:ext>
            </a:extLst>
          </p:cNvPr>
          <p:cNvCxnSpPr>
            <a:cxnSpLocks/>
            <a:stCxn id="11" idx="1"/>
            <a:endCxn id="3" idx="0"/>
          </p:cNvCxnSpPr>
          <p:nvPr/>
        </p:nvCxnSpPr>
        <p:spPr>
          <a:xfrm rot="10800000">
            <a:off x="1785179" y="2192101"/>
            <a:ext cx="2685001" cy="885931"/>
          </a:xfrm>
          <a:prstGeom prst="bentConnector4">
            <a:avLst>
              <a:gd name="adj1" fmla="val 23329"/>
              <a:gd name="adj2" fmla="val 1258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373E56A-0281-4412-A00B-1C009B6F59E9}"/>
              </a:ext>
            </a:extLst>
          </p:cNvPr>
          <p:cNvSpPr/>
          <p:nvPr/>
        </p:nvSpPr>
        <p:spPr>
          <a:xfrm>
            <a:off x="4470179" y="2397113"/>
            <a:ext cx="2864478" cy="1361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Главное окно</a:t>
            </a:r>
          </a:p>
          <a:p>
            <a:pPr algn="ctr">
              <a:defRPr/>
            </a:pPr>
            <a:r>
              <a:rPr lang="ru-RU" sz="2800" dirty="0"/>
              <a:t>(Библиотека)</a:t>
            </a:r>
          </a:p>
        </p:txBody>
      </p:sp>
      <p:cxnSp>
        <p:nvCxnSpPr>
          <p:cNvPr id="13" name="Соединительная линия уступом 12">
            <a:extLst>
              <a:ext uri="{FF2B5EF4-FFF2-40B4-BE49-F238E27FC236}">
                <a16:creationId xmlns:a16="http://schemas.microsoft.com/office/drawing/2014/main" id="{E07113C5-67E9-49C6-A247-16EB04DCD1DE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rot="5400000">
            <a:off x="5512293" y="2006988"/>
            <a:ext cx="78025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6373E56A-0281-4412-A00B-1C009B6F59E9}"/>
              </a:ext>
            </a:extLst>
          </p:cNvPr>
          <p:cNvSpPr/>
          <p:nvPr/>
        </p:nvSpPr>
        <p:spPr>
          <a:xfrm>
            <a:off x="8273735" y="2192100"/>
            <a:ext cx="2669884" cy="1046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Читать</a:t>
            </a:r>
          </a:p>
        </p:txBody>
      </p:sp>
      <p:cxnSp>
        <p:nvCxnSpPr>
          <p:cNvPr id="16" name="Соединительная линия уступом 15">
            <a:extLst>
              <a:ext uri="{FF2B5EF4-FFF2-40B4-BE49-F238E27FC236}">
                <a16:creationId xmlns:a16="http://schemas.microsoft.com/office/drawing/2014/main" id="{E07113C5-67E9-49C6-A247-16EB04DCD1DE}"/>
              </a:ext>
            </a:extLst>
          </p:cNvPr>
          <p:cNvCxnSpPr>
            <a:cxnSpLocks/>
            <a:stCxn id="11" idx="3"/>
            <a:endCxn id="15" idx="0"/>
          </p:cNvCxnSpPr>
          <p:nvPr/>
        </p:nvCxnSpPr>
        <p:spPr>
          <a:xfrm flipV="1">
            <a:off x="7334657" y="2192100"/>
            <a:ext cx="2274020" cy="885931"/>
          </a:xfrm>
          <a:prstGeom prst="bentConnector4">
            <a:avLst>
              <a:gd name="adj1" fmla="val 20648"/>
              <a:gd name="adj2" fmla="val 1258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14">
            <a:extLst>
              <a:ext uri="{FF2B5EF4-FFF2-40B4-BE49-F238E27FC236}">
                <a16:creationId xmlns:a16="http://schemas.microsoft.com/office/drawing/2014/main" id="{5F14913D-8767-49EA-A8BB-4219281A2EEF}"/>
              </a:ext>
            </a:extLst>
          </p:cNvPr>
          <p:cNvSpPr/>
          <p:nvPr/>
        </p:nvSpPr>
        <p:spPr>
          <a:xfrm>
            <a:off x="8271484" y="4070825"/>
            <a:ext cx="2669884" cy="1046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Чтение книги</a:t>
            </a:r>
            <a:r>
              <a:rPr lang="en-US" sz="2800" dirty="0"/>
              <a:t>,</a:t>
            </a:r>
            <a:r>
              <a:rPr lang="ru-RU" sz="2800" dirty="0"/>
              <a:t> </a:t>
            </a:r>
            <a:r>
              <a:rPr lang="ru-RU" sz="2800" dirty="0" err="1"/>
              <a:t>свайпы</a:t>
            </a:r>
            <a:endParaRPr lang="ru-RU" sz="2800" dirty="0"/>
          </a:p>
        </p:txBody>
      </p:sp>
      <p:cxnSp>
        <p:nvCxnSpPr>
          <p:cNvPr id="24" name="Соединительная линия уступом 15">
            <a:extLst>
              <a:ext uri="{FF2B5EF4-FFF2-40B4-BE49-F238E27FC236}">
                <a16:creationId xmlns:a16="http://schemas.microsoft.com/office/drawing/2014/main" id="{A4384F5C-E122-4E6C-8DAD-082D5DBF61F7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9191429" y="3653577"/>
            <a:ext cx="832246" cy="22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15">
            <a:extLst>
              <a:ext uri="{FF2B5EF4-FFF2-40B4-BE49-F238E27FC236}">
                <a16:creationId xmlns:a16="http://schemas.microsoft.com/office/drawing/2014/main" id="{4EEDEC56-2B3E-4354-8855-9BD35B97E324}"/>
              </a:ext>
            </a:extLst>
          </p:cNvPr>
          <p:cNvCxnSpPr>
            <a:cxnSpLocks/>
            <a:stCxn id="11" idx="2"/>
            <a:endCxn id="31" idx="3"/>
          </p:cNvCxnSpPr>
          <p:nvPr/>
        </p:nvCxnSpPr>
        <p:spPr>
          <a:xfrm rot="5400000">
            <a:off x="4225829" y="2660800"/>
            <a:ext cx="578440" cy="27747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Скругленный прямоугольник 14">
            <a:extLst>
              <a:ext uri="{FF2B5EF4-FFF2-40B4-BE49-F238E27FC236}">
                <a16:creationId xmlns:a16="http://schemas.microsoft.com/office/drawing/2014/main" id="{59DE3E4C-A758-45A5-9D65-29F7BF676654}"/>
              </a:ext>
            </a:extLst>
          </p:cNvPr>
          <p:cNvSpPr/>
          <p:nvPr/>
        </p:nvSpPr>
        <p:spPr>
          <a:xfrm>
            <a:off x="457795" y="3814149"/>
            <a:ext cx="2669884" cy="1046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Окно Истории</a:t>
            </a:r>
          </a:p>
        </p:txBody>
      </p:sp>
      <p:sp>
        <p:nvSpPr>
          <p:cNvPr id="41" name="Скругленный прямоугольник 14">
            <a:extLst>
              <a:ext uri="{FF2B5EF4-FFF2-40B4-BE49-F238E27FC236}">
                <a16:creationId xmlns:a16="http://schemas.microsoft.com/office/drawing/2014/main" id="{ADCA71C9-5AE3-4855-A2A3-2DE426BA2221}"/>
              </a:ext>
            </a:extLst>
          </p:cNvPr>
          <p:cNvSpPr/>
          <p:nvPr/>
        </p:nvSpPr>
        <p:spPr>
          <a:xfrm>
            <a:off x="457795" y="5436198"/>
            <a:ext cx="2669884" cy="1046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Оценка книг</a:t>
            </a:r>
          </a:p>
        </p:txBody>
      </p:sp>
      <p:cxnSp>
        <p:nvCxnSpPr>
          <p:cNvPr id="53" name="Соединительная линия уступом 12">
            <a:extLst>
              <a:ext uri="{FF2B5EF4-FFF2-40B4-BE49-F238E27FC236}">
                <a16:creationId xmlns:a16="http://schemas.microsoft.com/office/drawing/2014/main" id="{B6E127BE-2B4B-4A0D-BC99-0E68E85F2FC4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 rot="5400000">
            <a:off x="1504952" y="5148413"/>
            <a:ext cx="57557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51433A72-92FC-4990-B5F5-8AA92DB2E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3213100"/>
            <a:ext cx="8229600" cy="965200"/>
          </a:xfrm>
        </p:spPr>
        <p:txBody>
          <a:bodyPr rtlCol="0">
            <a:normAutofit/>
          </a:bodyPr>
          <a:lstStyle/>
          <a:p>
            <a:pPr marL="182880" indent="-182880" algn="ctr"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ru-RU" altLang="ru-RU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Демонстрация программы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CFFE119-1073-45A1-B356-A53E9A599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5041" y="146759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4" y="10429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Основное окно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30B2F32-98FB-4152-9072-22B9211FE8A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2366" y="1828664"/>
            <a:ext cx="1939896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3F9F3292-1CF7-4707-9237-2EC12A70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614" y="10429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Окно импорта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457AD9-CA77-4098-89D3-07EB377AA4DC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0930" y="1818800"/>
            <a:ext cx="2055968" cy="4361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91EDE170-D954-41FC-888D-8E49F470F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4" y="10429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Окно истории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524DFA-86F3-404A-A9FC-128FF013F8A9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17530" y="1768475"/>
            <a:ext cx="2055968" cy="4411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231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00F77-D084-4832-956A-302882DE0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7319" y="1911902"/>
            <a:ext cx="9508476" cy="3873077"/>
          </a:xfrm>
        </p:spPr>
        <p:txBody>
          <a:bodyPr>
            <a:normAutofit/>
          </a:bodyPr>
          <a:lstStyle/>
          <a:p>
            <a:pPr lvl="3" algn="just"/>
            <a:r>
              <a:rPr lang="ru-RU" altLang="ru-RU" sz="2800" dirty="0">
                <a:latin typeface="Times New Roman" panose="02020603050405020304" pitchFamily="18" charset="0"/>
              </a:rPr>
              <a:t>Преобразование </a:t>
            </a:r>
            <a:r>
              <a:rPr lang="en-US" altLang="ru-RU" sz="2800" dirty="0">
                <a:latin typeface="Times New Roman" panose="02020603050405020304" pitchFamily="18" charset="0"/>
              </a:rPr>
              <a:t>PDF</a:t>
            </a:r>
            <a:r>
              <a:rPr lang="ru-RU" altLang="ru-RU" sz="2800" dirty="0">
                <a:latin typeface="Times New Roman" panose="02020603050405020304" pitchFamily="18" charset="0"/>
              </a:rPr>
              <a:t> файла в изображение</a:t>
            </a:r>
          </a:p>
          <a:p>
            <a:pPr lvl="3" algn="just"/>
            <a:r>
              <a:rPr lang="ru-RU" altLang="ru-RU" sz="2800" dirty="0">
                <a:latin typeface="Times New Roman" panose="02020603050405020304" pitchFamily="18" charset="0"/>
              </a:rPr>
              <a:t>Кэширование страниц для оптимизации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Проблемы</a:t>
            </a:r>
          </a:p>
        </p:txBody>
      </p:sp>
      <p:pic>
        <p:nvPicPr>
          <p:cNvPr id="2050" name="Picture 2" descr="Error with letter - векторные изображения, Error with letter картинки |  Depositpho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371" y="3254905"/>
            <a:ext cx="4285796" cy="300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902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65DC48-4346-440A-B79D-A3C830C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для чтения электронных книг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00F77-D084-4832-956A-302882DE0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7319" y="1790604"/>
            <a:ext cx="9508476" cy="3873077"/>
          </a:xfrm>
        </p:spPr>
        <p:txBody>
          <a:bodyPr>
            <a:normAutofit/>
          </a:bodyPr>
          <a:lstStyle/>
          <a:p>
            <a:pPr algn="just"/>
            <a:r>
              <a:rPr lang="ru-RU" altLang="ru-RU" dirty="0">
                <a:latin typeface="Times New Roman" panose="02020603050405020304" pitchFamily="18" charset="0"/>
              </a:rPr>
              <a:t>Облачная синхронизация</a:t>
            </a:r>
          </a:p>
          <a:p>
            <a:pPr algn="just"/>
            <a: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Персонализация</a:t>
            </a:r>
            <a:r>
              <a:rPr lang="ru-RU" altLang="ru-RU" sz="2800" dirty="0">
                <a:latin typeface="Times New Roman" panose="02020603050405020304" pitchFamily="18" charset="0"/>
              </a:rPr>
              <a:t> интерфейса пользователем</a:t>
            </a:r>
          </a:p>
          <a:p>
            <a:pPr algn="just"/>
            <a:r>
              <a:rPr lang="ru-RU" altLang="ru-RU" sz="2800" dirty="0">
                <a:latin typeface="Times New Roman" panose="02020603050405020304" pitchFamily="18" charset="0"/>
              </a:rPr>
              <a:t>Оптимизация преобразования </a:t>
            </a:r>
            <a:r>
              <a:rPr lang="en-US" altLang="ru-RU" sz="2800" dirty="0">
                <a:latin typeface="Times New Roman" panose="02020603050405020304" pitchFamily="18" charset="0"/>
              </a:rPr>
              <a:t>PDF</a:t>
            </a:r>
            <a:r>
              <a:rPr lang="ru-RU" altLang="ru-RU" sz="2800" dirty="0">
                <a:latin typeface="Times New Roman" panose="02020603050405020304" pitchFamily="18" charset="0"/>
              </a:rPr>
              <a:t> + поддержка других форматов</a:t>
            </a:r>
          </a:p>
          <a:p>
            <a:pPr algn="just"/>
            <a:r>
              <a:rPr lang="ru-RU" altLang="ru-RU" sz="2800" dirty="0">
                <a:latin typeface="Times New Roman" panose="02020603050405020304" pitchFamily="18" charset="0"/>
              </a:rPr>
              <a:t>Магазин книг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865126F9-BFEC-4A7B-BB01-A3A690E2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Перспективы развития</a:t>
            </a:r>
          </a:p>
        </p:txBody>
      </p:sp>
      <p:pic>
        <p:nvPicPr>
          <p:cNvPr id="3076" name="Picture 4" descr="Перспективы развития п.Воля | Администрация Воленского сельского поселения  Новоусманского муниципального района Воронежской облас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033" y="3727142"/>
            <a:ext cx="3408719" cy="256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4351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303</Words>
  <Application>Microsoft Office PowerPoint</Application>
  <PresentationFormat>Широкоэкранный</PresentationFormat>
  <Paragraphs>59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  <vt:lpstr>Разработка мобильного приложения для чтения электронных книг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Arseniy Kalinin</dc:creator>
  <cp:lastModifiedBy>Nout_2</cp:lastModifiedBy>
  <cp:revision>22</cp:revision>
  <dcterms:created xsi:type="dcterms:W3CDTF">2022-04-06T17:27:23Z</dcterms:created>
  <dcterms:modified xsi:type="dcterms:W3CDTF">2025-12-06T06:34:10Z</dcterms:modified>
</cp:coreProperties>
</file>